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89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E6F0FF"/>
                </a:solidFill>
                <a:latin typeface="Microsoft YaHei"/>
              </a:rPr>
              <a:t>Rust 语言整体架构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828800"/>
            <a:ext cx="4389120" cy="45720"/>
          </a:xfrm>
          <a:prstGeom prst="rect">
            <a:avLst/>
          </a:prstGeom>
          <a:solidFill>
            <a:srgbClr val="4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A0B4D2"/>
                </a:solidFill>
                <a:latin typeface="Microsoft YaHei"/>
              </a:rPr>
              <a:t>面向初学者：结构优势与学习方案（10页）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E6F0FF"/>
                </a:solidFill>
                <a:latin typeface="Microsoft YaHei"/>
              </a:defRPr>
            </a:pPr>
            <a:r>
              <a:t>高性能 + 高安全 + 现代工程化体验</a:t>
            </a:r>
          </a:p>
          <a:p>
            <a:pPr>
              <a:spcAft>
                <a:spcPts val="1200"/>
              </a:spcAft>
              <a:defRPr sz="2400">
                <a:solidFill>
                  <a:srgbClr val="E6F0FF"/>
                </a:solidFill>
                <a:latin typeface="Microsoft YaHei"/>
              </a:defRPr>
            </a:pPr>
            <a:r>
              <a:t>从“为什么学”到“怎么学会”</a:t>
            </a:r>
          </a:p>
          <a:p>
            <a:pPr>
              <a:spcAft>
                <a:spcPts val="1200"/>
              </a:spcAft>
              <a:defRPr sz="2400">
                <a:solidFill>
                  <a:srgbClr val="E6F0FF"/>
                </a:solidFill>
                <a:latin typeface="Microsoft YaHei"/>
              </a:defRPr>
            </a:pPr>
            <a:r>
              <a:t>适用对象：有编程基础的 Rust 初学者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0B4D2"/>
                </a:solidFill>
                <a:latin typeface="Microsoft YaHei"/>
              </a:defRPr>
            </a:pPr>
            <a:r>
              <a:t>Rust 入门讲解 · 科技风模板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424160" y="0"/>
            <a:ext cx="1737360" cy="6858000"/>
          </a:xfrm>
          <a:prstGeom prst="rect">
            <a:avLst/>
          </a:prstGeom>
          <a:solidFill>
            <a:srgbClr val="182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A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789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E6F0FF"/>
                </a:solidFill>
                <a:latin typeface="Microsoft YaHei"/>
              </a:rPr>
              <a:t>2. 为什么要学 Rust？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4389120" cy="45720"/>
          </a:xfrm>
          <a:prstGeom prst="rect">
            <a:avLst/>
          </a:prstGeom>
          <a:solidFill>
            <a:srgbClr val="4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E6F0FF"/>
                </a:solidFill>
                <a:latin typeface="Microsoft YaHei"/>
              </a:defRPr>
            </a:pPr>
            <a:r>
              <a:t>传统系统语言痛点：内存错误、并发数据竞争、线上排错成本高</a:t>
            </a:r>
          </a:p>
          <a:p>
            <a:pPr>
              <a:spcAft>
                <a:spcPts val="1200"/>
              </a:spcAft>
              <a:defRPr sz="2400">
                <a:solidFill>
                  <a:srgbClr val="E6F0FF"/>
                </a:solidFill>
                <a:latin typeface="Microsoft YaHei"/>
              </a:defRPr>
            </a:pPr>
            <a:r>
              <a:t>Rust 目标：在不牺牲性能的前提下，默认提供内存与并发安全</a:t>
            </a:r>
          </a:p>
          <a:p>
            <a:pPr>
              <a:spcAft>
                <a:spcPts val="1200"/>
              </a:spcAft>
              <a:defRPr sz="2400">
                <a:solidFill>
                  <a:srgbClr val="E6F0FF"/>
                </a:solidFill>
                <a:latin typeface="Microsoft YaHei"/>
              </a:defRPr>
            </a:pPr>
            <a:r>
              <a:t>典型场景：系统工具、后端基础设施、WebAssembly、嵌入式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0B4D2"/>
                </a:solidFill>
                <a:latin typeface="Microsoft YaHei"/>
              </a:defRPr>
            </a:pPr>
            <a:r>
              <a:t>Rust 架构与学习路线 · Midori Generated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424160" y="0"/>
            <a:ext cx="1737360" cy="6858000"/>
          </a:xfrm>
          <a:prstGeom prst="rect">
            <a:avLst/>
          </a:prstGeom>
          <a:solidFill>
            <a:srgbClr val="182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A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789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E6F0FF"/>
                </a:solidFill>
                <a:latin typeface="Microsoft YaHei"/>
              </a:rPr>
              <a:t>3. Rust 的整体架构（4层）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4389120" cy="45720"/>
          </a:xfrm>
          <a:prstGeom prst="rect">
            <a:avLst/>
          </a:prstGeom>
          <a:solidFill>
            <a:srgbClr val="4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E6F0FF"/>
                </a:solidFill>
                <a:latin typeface="Microsoft YaHei"/>
              </a:defRPr>
            </a:pPr>
            <a:r>
              <a:t>语言层：所有权、借用、生命周期、模式匹配、Trait</a:t>
            </a:r>
          </a:p>
          <a:p>
            <a:pPr>
              <a:spcAft>
                <a:spcPts val="1200"/>
              </a:spcAft>
              <a:defRPr sz="2400">
                <a:solidFill>
                  <a:srgbClr val="E6F0FF"/>
                </a:solidFill>
                <a:latin typeface="Microsoft YaHei"/>
              </a:defRPr>
            </a:pPr>
            <a:r>
              <a:t>编译层：rustc + LLVM，在编译期保证大量安全约束</a:t>
            </a:r>
          </a:p>
          <a:p>
            <a:pPr>
              <a:spcAft>
                <a:spcPts val="1200"/>
              </a:spcAft>
              <a:defRPr sz="2400">
                <a:solidFill>
                  <a:srgbClr val="E6F0FF"/>
                </a:solidFill>
                <a:latin typeface="Microsoft YaHei"/>
              </a:defRPr>
            </a:pPr>
            <a:r>
              <a:t>生态层：Cargo、Crates.io、标准库、社区框架</a:t>
            </a:r>
          </a:p>
          <a:p>
            <a:pPr>
              <a:spcAft>
                <a:spcPts val="1200"/>
              </a:spcAft>
              <a:defRPr sz="2400">
                <a:solidFill>
                  <a:srgbClr val="E6F0FF"/>
                </a:solidFill>
                <a:latin typeface="Microsoft YaHei"/>
              </a:defRPr>
            </a:pPr>
            <a:r>
              <a:t>应用层：后端服务、CLI、区块链、游戏与 IoT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0B4D2"/>
                </a:solidFill>
                <a:latin typeface="Microsoft YaHei"/>
              </a:defRPr>
            </a:pPr>
            <a:r>
              <a:t>Rust 架构与学习路线 · Midori Generated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424160" y="0"/>
            <a:ext cx="1737360" cy="6858000"/>
          </a:xfrm>
          <a:prstGeom prst="rect">
            <a:avLst/>
          </a:prstGeom>
          <a:solidFill>
            <a:srgbClr val="182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A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789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E6F0FF"/>
                </a:solidFill>
                <a:latin typeface="Microsoft YaHei"/>
              </a:rPr>
              <a:t>4. 核心机制①：所有权 Ownership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4389120" cy="45720"/>
          </a:xfrm>
          <a:prstGeom prst="rect">
            <a:avLst/>
          </a:prstGeom>
          <a:solidFill>
            <a:srgbClr val="4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E6F0FF"/>
                </a:solidFill>
                <a:latin typeface="Microsoft YaHei"/>
              </a:defRPr>
            </a:pPr>
            <a:r>
              <a:t>每个值同一时刻只有一个所有者</a:t>
            </a:r>
          </a:p>
          <a:p>
            <a:pPr>
              <a:spcAft>
                <a:spcPts val="1200"/>
              </a:spcAft>
              <a:defRPr sz="2400">
                <a:solidFill>
                  <a:srgbClr val="E6F0FF"/>
                </a:solidFill>
                <a:latin typeface="Microsoft YaHei"/>
              </a:defRPr>
            </a:pPr>
            <a:r>
              <a:t>变量离开作用域即自动释放资源（无需 GC）</a:t>
            </a:r>
          </a:p>
          <a:p>
            <a:pPr>
              <a:spcAft>
                <a:spcPts val="1200"/>
              </a:spcAft>
              <a:defRPr sz="2400">
                <a:solidFill>
                  <a:srgbClr val="E6F0FF"/>
                </a:solidFill>
                <a:latin typeface="Microsoft YaHei"/>
              </a:defRPr>
            </a:pPr>
            <a:r>
              <a:t>默认移动语义，避免悬垂指针与重复释放</a:t>
            </a:r>
          </a:p>
          <a:p>
            <a:pPr>
              <a:spcAft>
                <a:spcPts val="1200"/>
              </a:spcAft>
              <a:defRPr sz="2400">
                <a:solidFill>
                  <a:srgbClr val="E6F0FF"/>
                </a:solidFill>
                <a:latin typeface="Microsoft YaHei"/>
              </a:defRPr>
            </a:pPr>
            <a:r>
              <a:t>直觉理解：资源始终有且仅有一个“责任人”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0B4D2"/>
                </a:solidFill>
                <a:latin typeface="Microsoft YaHei"/>
              </a:defRPr>
            </a:pPr>
            <a:r>
              <a:t>Rust 架构与学习路线 · Midori Generated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424160" y="0"/>
            <a:ext cx="1737360" cy="6858000"/>
          </a:xfrm>
          <a:prstGeom prst="rect">
            <a:avLst/>
          </a:prstGeom>
          <a:solidFill>
            <a:srgbClr val="182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A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789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E6F0FF"/>
                </a:solidFill>
                <a:latin typeface="Microsoft YaHei"/>
              </a:rPr>
              <a:t>5. 核心机制②：借用与生命周期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4389120" cy="45720"/>
          </a:xfrm>
          <a:prstGeom prst="rect">
            <a:avLst/>
          </a:prstGeom>
          <a:solidFill>
            <a:srgbClr val="4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E6F0FF"/>
                </a:solidFill>
                <a:latin typeface="Microsoft YaHei"/>
              </a:defRPr>
            </a:pPr>
            <a:r>
              <a:t>借用不转移所有权：不可变借用 &amp;T / 可变借用 &amp;mut T</a:t>
            </a:r>
          </a:p>
          <a:p>
            <a:pPr>
              <a:spcAft>
                <a:spcPts val="1200"/>
              </a:spcAft>
              <a:defRPr sz="2400">
                <a:solidFill>
                  <a:srgbClr val="E6F0FF"/>
                </a:solidFill>
                <a:latin typeface="Microsoft YaHei"/>
              </a:defRPr>
            </a:pPr>
            <a:r>
              <a:t>规则：可有多个不可变引用，或一个可变引用（互斥）</a:t>
            </a:r>
          </a:p>
          <a:p>
            <a:pPr>
              <a:spcAft>
                <a:spcPts val="1200"/>
              </a:spcAft>
              <a:defRPr sz="2400">
                <a:solidFill>
                  <a:srgbClr val="E6F0FF"/>
                </a:solidFill>
                <a:latin typeface="Microsoft YaHei"/>
              </a:defRPr>
            </a:pPr>
            <a:r>
              <a:t>生命周期用于描述“引用有效期”并由编译器检查</a:t>
            </a:r>
          </a:p>
          <a:p>
            <a:pPr>
              <a:spcAft>
                <a:spcPts val="1200"/>
              </a:spcAft>
              <a:defRPr sz="2400">
                <a:solidFill>
                  <a:srgbClr val="E6F0FF"/>
                </a:solidFill>
                <a:latin typeface="Microsoft YaHei"/>
              </a:defRPr>
            </a:pPr>
            <a:r>
              <a:t>价值：把很多运行时崩溃提前到编译期发现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0B4D2"/>
                </a:solidFill>
                <a:latin typeface="Microsoft YaHei"/>
              </a:defRPr>
            </a:pPr>
            <a:r>
              <a:t>Rust 架构与学习路线 · Midori Generated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424160" y="0"/>
            <a:ext cx="1737360" cy="6858000"/>
          </a:xfrm>
          <a:prstGeom prst="rect">
            <a:avLst/>
          </a:prstGeom>
          <a:solidFill>
            <a:srgbClr val="182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A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789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E6F0FF"/>
                </a:solidFill>
                <a:latin typeface="Microsoft YaHei"/>
              </a:rPr>
              <a:t>6. 核心机制③：类型系统与错误处理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4389120" cy="45720"/>
          </a:xfrm>
          <a:prstGeom prst="rect">
            <a:avLst/>
          </a:prstGeom>
          <a:solidFill>
            <a:srgbClr val="4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E6F0FF"/>
                </a:solidFill>
                <a:latin typeface="Microsoft YaHei"/>
              </a:defRPr>
            </a:pPr>
            <a:r>
              <a:t>Option&lt;T&gt;：显式表达“值可能不存在”</a:t>
            </a:r>
          </a:p>
          <a:p>
            <a:pPr>
              <a:spcAft>
                <a:spcPts val="1200"/>
              </a:spcAft>
              <a:defRPr sz="2400">
                <a:solidFill>
                  <a:srgbClr val="E6F0FF"/>
                </a:solidFill>
                <a:latin typeface="Microsoft YaHei"/>
              </a:defRPr>
            </a:pPr>
            <a:r>
              <a:t>Result&lt;T, E&gt;：显式表达“操作可能失败”</a:t>
            </a:r>
          </a:p>
          <a:p>
            <a:pPr>
              <a:spcAft>
                <a:spcPts val="1200"/>
              </a:spcAft>
              <a:defRPr sz="2400">
                <a:solidFill>
                  <a:srgbClr val="E6F0FF"/>
                </a:solidFill>
                <a:latin typeface="Microsoft YaHei"/>
              </a:defRPr>
            </a:pPr>
            <a:r>
              <a:t>match 强制覆盖分支，减少漏处理</a:t>
            </a:r>
          </a:p>
          <a:p>
            <a:pPr>
              <a:spcAft>
                <a:spcPts val="1200"/>
              </a:spcAft>
              <a:defRPr sz="2400">
                <a:solidFill>
                  <a:srgbClr val="E6F0FF"/>
                </a:solidFill>
                <a:latin typeface="Microsoft YaHei"/>
              </a:defRPr>
            </a:pPr>
            <a:r>
              <a:t>收益：异常路径可见、代码可维护性更高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0B4D2"/>
                </a:solidFill>
                <a:latin typeface="Microsoft YaHei"/>
              </a:defRPr>
            </a:pPr>
            <a:r>
              <a:t>Rust 架构与学习路线 · Midori Generated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424160" y="0"/>
            <a:ext cx="1737360" cy="6858000"/>
          </a:xfrm>
          <a:prstGeom prst="rect">
            <a:avLst/>
          </a:prstGeom>
          <a:solidFill>
            <a:srgbClr val="182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A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789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E6F0FF"/>
                </a:solidFill>
                <a:latin typeface="Microsoft YaHei"/>
              </a:rPr>
              <a:t>7. 并发与性能优势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4389120" cy="45720"/>
          </a:xfrm>
          <a:prstGeom prst="rect">
            <a:avLst/>
          </a:prstGeom>
          <a:solidFill>
            <a:srgbClr val="4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E6F0FF"/>
                </a:solidFill>
                <a:latin typeface="Microsoft YaHei"/>
              </a:defRPr>
            </a:pPr>
            <a:r>
              <a:t>无畏并发：类型系统帮助避免数据竞争</a:t>
            </a:r>
          </a:p>
          <a:p>
            <a:pPr>
              <a:spcAft>
                <a:spcPts val="1200"/>
              </a:spcAft>
              <a:defRPr sz="2400">
                <a:solidFill>
                  <a:srgbClr val="E6F0FF"/>
                </a:solidFill>
                <a:latin typeface="Microsoft YaHei"/>
              </a:defRPr>
            </a:pPr>
            <a:r>
              <a:t>零成本抽象：高级写法在运行时尽量不额外付费</a:t>
            </a:r>
          </a:p>
          <a:p>
            <a:pPr>
              <a:spcAft>
                <a:spcPts val="1200"/>
              </a:spcAft>
              <a:defRPr sz="2400">
                <a:solidFill>
                  <a:srgbClr val="E6F0FF"/>
                </a:solidFill>
                <a:latin typeface="Microsoft YaHei"/>
              </a:defRPr>
            </a:pPr>
            <a:r>
              <a:t>性能接近 C/C++，但安全边界更清晰</a:t>
            </a:r>
          </a:p>
          <a:p>
            <a:pPr>
              <a:spcAft>
                <a:spcPts val="1200"/>
              </a:spcAft>
              <a:defRPr sz="2400">
                <a:solidFill>
                  <a:srgbClr val="E6F0FF"/>
                </a:solidFill>
                <a:latin typeface="Microsoft YaHei"/>
              </a:defRPr>
            </a:pPr>
            <a:r>
              <a:t>结论：Rust 让“快”和“稳”同时成立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0B4D2"/>
                </a:solidFill>
                <a:latin typeface="Microsoft YaHei"/>
              </a:defRPr>
            </a:pPr>
            <a:r>
              <a:t>Rust 架构与学习路线 · Midori Generated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424160" y="0"/>
            <a:ext cx="1737360" cy="6858000"/>
          </a:xfrm>
          <a:prstGeom prst="rect">
            <a:avLst/>
          </a:prstGeom>
          <a:solidFill>
            <a:srgbClr val="182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A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789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E6F0FF"/>
                </a:solidFill>
                <a:latin typeface="Microsoft YaHei"/>
              </a:rPr>
              <a:t>8. 结构优势总结（初学者视角）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4389120" cy="45720"/>
          </a:xfrm>
          <a:prstGeom prst="rect">
            <a:avLst/>
          </a:prstGeom>
          <a:solidFill>
            <a:srgbClr val="4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E6F0FF"/>
                </a:solidFill>
                <a:latin typeface="Microsoft YaHei"/>
              </a:defRPr>
            </a:pPr>
            <a:r>
              <a:t>安全：默认内存安全，减少低级错误</a:t>
            </a:r>
          </a:p>
          <a:p>
            <a:pPr>
              <a:spcAft>
                <a:spcPts val="1200"/>
              </a:spcAft>
              <a:defRPr sz="2400">
                <a:solidFill>
                  <a:srgbClr val="E6F0FF"/>
                </a:solidFill>
                <a:latin typeface="Microsoft YaHei"/>
              </a:defRPr>
            </a:pPr>
            <a:r>
              <a:t>可靠：失败与空值都被类型系统显式建模</a:t>
            </a:r>
          </a:p>
          <a:p>
            <a:pPr>
              <a:spcAft>
                <a:spcPts val="1200"/>
              </a:spcAft>
              <a:defRPr sz="2400">
                <a:solidFill>
                  <a:srgbClr val="E6F0FF"/>
                </a:solidFill>
                <a:latin typeface="Microsoft YaHei"/>
              </a:defRPr>
            </a:pPr>
            <a:r>
              <a:t>可维护：编译器约束强，团队协作更稳定</a:t>
            </a:r>
          </a:p>
          <a:p>
            <a:pPr>
              <a:spcAft>
                <a:spcPts val="1200"/>
              </a:spcAft>
              <a:defRPr sz="2400">
                <a:solidFill>
                  <a:srgbClr val="E6F0FF"/>
                </a:solidFill>
                <a:latin typeface="Microsoft YaHei"/>
              </a:defRPr>
            </a:pPr>
            <a:r>
              <a:t>工程化：Cargo 统一依赖、测试、构建、发布流程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0B4D2"/>
                </a:solidFill>
                <a:latin typeface="Microsoft YaHei"/>
              </a:defRPr>
            </a:pPr>
            <a:r>
              <a:t>Rust 架构与学习路线 · Midori Generated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424160" y="0"/>
            <a:ext cx="1737360" cy="6858000"/>
          </a:xfrm>
          <a:prstGeom prst="rect">
            <a:avLst/>
          </a:prstGeom>
          <a:solidFill>
            <a:srgbClr val="182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A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789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E6F0FF"/>
                </a:solidFill>
                <a:latin typeface="Microsoft YaHei"/>
              </a:rPr>
              <a:t>9. 初学者学习方案（8周）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4389120" cy="45720"/>
          </a:xfrm>
          <a:prstGeom prst="rect">
            <a:avLst/>
          </a:prstGeom>
          <a:solidFill>
            <a:srgbClr val="4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E6F0FF"/>
                </a:solidFill>
                <a:latin typeface="Microsoft YaHei"/>
              </a:defRPr>
            </a:pPr>
            <a:r>
              <a:t>1-2周：语法、所有权、借用、集合与字符串</a:t>
            </a:r>
          </a:p>
          <a:p>
            <a:pPr>
              <a:spcAft>
                <a:spcPts val="1200"/>
              </a:spcAft>
              <a:defRPr sz="2400">
                <a:solidFill>
                  <a:srgbClr val="E6F0FF"/>
                </a:solidFill>
                <a:latin typeface="Microsoft YaHei"/>
              </a:defRPr>
            </a:pPr>
            <a:r>
              <a:t>3-4周：Struct/Enum/Trait、模块化、错误处理</a:t>
            </a:r>
          </a:p>
          <a:p>
            <a:pPr>
              <a:spcAft>
                <a:spcPts val="1200"/>
              </a:spcAft>
              <a:defRPr sz="2400">
                <a:solidFill>
                  <a:srgbClr val="E6F0FF"/>
                </a:solidFill>
                <a:latin typeface="Microsoft YaHei"/>
              </a:defRPr>
            </a:pPr>
            <a:r>
              <a:t>5-6周：并发与异步基础（线程、channel、async）</a:t>
            </a:r>
          </a:p>
          <a:p>
            <a:pPr>
              <a:spcAft>
                <a:spcPts val="1200"/>
              </a:spcAft>
              <a:defRPr sz="2400">
                <a:solidFill>
                  <a:srgbClr val="E6F0FF"/>
                </a:solidFill>
                <a:latin typeface="Microsoft YaHei"/>
              </a:defRPr>
            </a:pPr>
            <a:r>
              <a:t>第7周：完成一个 CLI 小工具并发布到 GitHub</a:t>
            </a:r>
          </a:p>
          <a:p>
            <a:pPr>
              <a:spcAft>
                <a:spcPts val="1200"/>
              </a:spcAft>
              <a:defRPr sz="2400">
                <a:solidFill>
                  <a:srgbClr val="E6F0FF"/>
                </a:solidFill>
                <a:latin typeface="Microsoft YaHei"/>
              </a:defRPr>
            </a:pPr>
            <a:r>
              <a:t>第8周：完成一个小型 Web 服务并部署，做复盘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0B4D2"/>
                </a:solidFill>
                <a:latin typeface="Microsoft YaHei"/>
              </a:defRPr>
            </a:pPr>
            <a:r>
              <a:t>Rust 架构与学习路线 · Midori Generated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424160" y="0"/>
            <a:ext cx="1737360" cy="6858000"/>
          </a:xfrm>
          <a:prstGeom prst="rect">
            <a:avLst/>
          </a:prstGeom>
          <a:solidFill>
            <a:srgbClr val="182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A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789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E6F0FF"/>
                </a:solidFill>
                <a:latin typeface="Microsoft YaHei"/>
              </a:rPr>
              <a:t>10. 结语：今天就能开始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4389120" cy="45720"/>
          </a:xfrm>
          <a:prstGeom prst="rect">
            <a:avLst/>
          </a:prstGeom>
          <a:solidFill>
            <a:srgbClr val="4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E6F0FF"/>
                </a:solidFill>
                <a:latin typeface="Microsoft YaHei"/>
              </a:defRPr>
            </a:pPr>
            <a:r>
              <a:t>立刻行动：安装 Rust 并运行 cargo new hello_rust</a:t>
            </a:r>
          </a:p>
          <a:p>
            <a:pPr>
              <a:spcAft>
                <a:spcPts val="1200"/>
              </a:spcAft>
              <a:defRPr sz="2400">
                <a:solidFill>
                  <a:srgbClr val="E6F0FF"/>
                </a:solidFill>
                <a:latin typeface="Microsoft YaHei"/>
              </a:defRPr>
            </a:pPr>
            <a:r>
              <a:t>本周目标：完成一个可用的小工具（有输入/输出/错误处理）</a:t>
            </a:r>
          </a:p>
          <a:p>
            <a:pPr>
              <a:spcAft>
                <a:spcPts val="1200"/>
              </a:spcAft>
              <a:defRPr sz="2400">
                <a:solidFill>
                  <a:srgbClr val="E6F0FF"/>
                </a:solidFill>
                <a:latin typeface="Microsoft YaHei"/>
              </a:defRPr>
            </a:pPr>
            <a:r>
              <a:t>学习节奏：概念 → 小练习 → 项目 → 复盘</a:t>
            </a:r>
          </a:p>
          <a:p>
            <a:pPr>
              <a:spcAft>
                <a:spcPts val="1200"/>
              </a:spcAft>
              <a:defRPr sz="2400">
                <a:solidFill>
                  <a:srgbClr val="E6F0FF"/>
                </a:solidFill>
                <a:latin typeface="Microsoft YaHei"/>
              </a:defRPr>
            </a:pPr>
            <a:r>
              <a:t>Rust 前期稍陡，但中后期回报非常大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0B4D2"/>
                </a:solidFill>
                <a:latin typeface="Microsoft YaHei"/>
              </a:defRPr>
            </a:pPr>
            <a:r>
              <a:t>Rust 架构与学习路线 · Midori Generated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